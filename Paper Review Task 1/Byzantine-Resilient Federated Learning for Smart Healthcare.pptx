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Raleway" pitchFamily="2" charset="0"/>
      <p:regular r:id="rId13"/>
      <p:bold r:id="rId14"/>
    </p:embeddedFont>
    <p:embeddedFont>
      <p:font typeface="Roboto" panose="02000000000000000000" pitchFamily="2" charset="0"/>
      <p:regular r:id="rId15"/>
    </p:embeddedFont>
    <p:embeddedFont>
      <p:font typeface="Roboto Bold" panose="02000000000000000000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880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svg"/><Relationship Id="rId4" Type="http://schemas.openxmlformats.org/officeDocument/2006/relationships/image" Target="../media/image20.sv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551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Artificial Intelligence in Healthcare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000" dirty="0">
                <a:solidFill>
                  <a:srgbClr val="1B1B27"/>
                </a:solidFill>
                <a:latin typeface="Raleway" pitchFamily="34" charset="0"/>
              </a:rPr>
              <a:t>Course No: ICT 6513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96119" y="1713458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3C3939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6822" y="1898228"/>
            <a:ext cx="2693789" cy="1744191"/>
          </a:xfrm>
          <a:prstGeom prst="roundRect">
            <a:avLst>
              <a:gd name="adj" fmla="val 512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30796" y="2022202"/>
            <a:ext cx="24458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Presented By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796" y="2340025"/>
            <a:ext cx="2445841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Joyashish Ghosh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 No: 2671502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Institute of Information and Communication Technology.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Khulna University of Engineering &amp; Technology.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676712" y="1867273"/>
            <a:ext cx="2693789" cy="1744191"/>
          </a:xfrm>
          <a:prstGeom prst="roundRect">
            <a:avLst>
              <a:gd name="adj" fmla="val 512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799162" y="1980687"/>
            <a:ext cx="24458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Presented 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99162" y="2356701"/>
            <a:ext cx="2445841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Dr. M. A. Moyeen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Assistant Professor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Institute of Information and Communication Technology.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Khulna University of Engineering &amp; Technology.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41169" y="2009849"/>
            <a:ext cx="2972395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3781946"/>
            <a:ext cx="8151763" cy="495970"/>
          </a:xfrm>
          <a:prstGeom prst="roundRect">
            <a:avLst>
              <a:gd name="adj" fmla="val 10505"/>
            </a:avLst>
          </a:prstGeom>
          <a:solidFill>
            <a:srgbClr val="E1E1EA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961730"/>
            <a:ext cx="155004" cy="12397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9071" y="3936876"/>
            <a:ext cx="80820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Topics: Byzantine Attack Challenges in Federated Learning for IoMT Healthcare.</a:t>
            </a:r>
            <a:endParaRPr lang="en-US" sz="9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21192-21F7-030D-DEF4-85EA143D3B1A}"/>
              </a:ext>
            </a:extLst>
          </p:cNvPr>
          <p:cNvSpPr/>
          <p:nvPr/>
        </p:nvSpPr>
        <p:spPr>
          <a:xfrm>
            <a:off x="8007724" y="4840941"/>
            <a:ext cx="1105840" cy="28016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5253"/>
            <a:ext cx="306214" cy="117649"/>
          </a:xfrm>
          <a:prstGeom prst="roundRect">
            <a:avLst>
              <a:gd name="adj" fmla="val 2214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42627" y="378470"/>
            <a:ext cx="670396" cy="7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1</a:t>
            </a:r>
            <a:endParaRPr lang="en-US" sz="450" dirty="0"/>
          </a:p>
        </p:txBody>
      </p:sp>
      <p:sp>
        <p:nvSpPr>
          <p:cNvPr id="4" name="Text 2"/>
          <p:cNvSpPr/>
          <p:nvPr/>
        </p:nvSpPr>
        <p:spPr>
          <a:xfrm>
            <a:off x="496119" y="492249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96119" y="753889"/>
            <a:ext cx="8151763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Byzantine Attack Challenges in Federated Learning for IoMT Healthcare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6119" y="947589"/>
            <a:ext cx="8151763" cy="20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Federated Learning (FL) enables multiple hospitals and IoMT devices to collaboratively train AI models without sharing raw patient data. However, FL is vulnerable to </a:t>
            </a:r>
            <a:r>
              <a:rPr lang="en-US" sz="6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Byzantine attacks</a:t>
            </a: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where malicious participants send corrupted or manipulated model updates.</a:t>
            </a:r>
            <a:endParaRPr lang="en-US" sz="600" dirty="0"/>
          </a:p>
        </p:txBody>
      </p:sp>
      <p:sp>
        <p:nvSpPr>
          <p:cNvPr id="7" name="Shape 5"/>
          <p:cNvSpPr/>
          <p:nvPr/>
        </p:nvSpPr>
        <p:spPr>
          <a:xfrm>
            <a:off x="440234" y="1203573"/>
            <a:ext cx="4093071" cy="688553"/>
          </a:xfrm>
          <a:prstGeom prst="roundRect">
            <a:avLst>
              <a:gd name="adj" fmla="val 810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17699" y="1252017"/>
            <a:ext cx="3938141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Attack Consequences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17699" y="1421532"/>
            <a:ext cx="3938141" cy="453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 AI model accuracy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Damage the global model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Produce incorrect disease predictions</a:t>
            </a:r>
            <a:endParaRPr lang="en-US" sz="600" dirty="0"/>
          </a:p>
          <a:p>
            <a:pPr marL="121920" indent="-121920" algn="l">
              <a:lnSpc>
                <a:spcPct val="108000"/>
              </a:lnSpc>
              <a:buSzPct val="100000"/>
              <a:buChar char="•"/>
            </a:pPr>
            <a:r>
              <a:rPr lang="en-US" sz="6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Affect clinical decision-making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671343" y="1252017"/>
            <a:ext cx="3981301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Core Imperative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71343" y="1421532"/>
            <a:ext cx="3981301" cy="3022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Developing </a:t>
            </a:r>
            <a:r>
              <a:rPr lang="en-US" sz="60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robust aggregation mechanisms</a:t>
            </a: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essential for secure and reliable AI-driven healthcare systems. The integrity of the global model depends on the trustworthiness of every participating client — a single malicious node can compromise the entire network.</a:t>
            </a:r>
            <a:endParaRPr lang="en-US" sz="6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100" y="1946597"/>
            <a:ext cx="4787801" cy="284157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10481" y="4014421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Compromised Decisions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010581" y="4014421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Poisoned Global Model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486226" y="4014421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Malicious Client</a:t>
            </a:r>
            <a:endParaRPr lang="en-US" sz="14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372D2D-0DED-1674-EA55-FC8A6859F5BC}"/>
              </a:ext>
            </a:extLst>
          </p:cNvPr>
          <p:cNvSpPr/>
          <p:nvPr/>
        </p:nvSpPr>
        <p:spPr>
          <a:xfrm>
            <a:off x="7732059" y="4788172"/>
            <a:ext cx="1337982" cy="3022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54509"/>
            <a:ext cx="344463" cy="132457"/>
          </a:xfrm>
          <a:prstGeom prst="roundRect">
            <a:avLst>
              <a:gd name="adj" fmla="val 2212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48432" y="380628"/>
            <a:ext cx="697037" cy="80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2</a:t>
            </a:r>
            <a:endParaRPr lang="en-US" sz="500" dirty="0"/>
          </a:p>
        </p:txBody>
      </p:sp>
      <p:sp>
        <p:nvSpPr>
          <p:cNvPr id="4" name="Text 2"/>
          <p:cNvSpPr/>
          <p:nvPr/>
        </p:nvSpPr>
        <p:spPr>
          <a:xfrm>
            <a:off x="496119" y="511448"/>
            <a:ext cx="8151763" cy="272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Taxonomy of Byzantine-Robust Federated Learning Solutions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96119" y="808434"/>
            <a:ext cx="8151763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Existing Defense Approaches</a:t>
            </a:r>
            <a:endParaRPr lang="en-US" sz="8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36662"/>
            <a:ext cx="8151763" cy="780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279" y="1345406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15814" y="1133401"/>
            <a:ext cx="7635329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Distance-Based Methods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915814" y="1306413"/>
            <a:ext cx="763532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malicious updates by measuring similarity between client models.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915814" y="1461939"/>
            <a:ext cx="763532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Krum</a:t>
            </a:r>
            <a:endParaRPr lang="en-US" sz="650" dirty="0"/>
          </a:p>
          <a:p>
            <a:pPr marL="132080" indent="-132080" algn="l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Multi-Krum</a:t>
            </a:r>
            <a:endParaRPr lang="en-US" sz="6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878955"/>
            <a:ext cx="8151763" cy="7809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12279" y="2187699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915814" y="1975693"/>
            <a:ext cx="7635329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Statistical-Based Methods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915814" y="2148706"/>
            <a:ext cx="763532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Remove abnormal values from model parameters.</a:t>
            </a:r>
            <a:endParaRPr lang="en-US" sz="650" dirty="0"/>
          </a:p>
        </p:txBody>
      </p:sp>
      <p:sp>
        <p:nvSpPr>
          <p:cNvPr id="15" name="Text 11"/>
          <p:cNvSpPr/>
          <p:nvPr/>
        </p:nvSpPr>
        <p:spPr>
          <a:xfrm>
            <a:off x="915814" y="2304231"/>
            <a:ext cx="763532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Trimmed Mean</a:t>
            </a:r>
            <a:endParaRPr lang="en-US" sz="650" dirty="0"/>
          </a:p>
          <a:p>
            <a:pPr marL="132080" indent="-132080" algn="l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Median Aggregation</a:t>
            </a:r>
            <a:endParaRPr lang="en-US" sz="65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721248"/>
            <a:ext cx="8151763" cy="64077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279" y="2959894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915814" y="2817986"/>
            <a:ext cx="7635329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Hybrid Robust Aggregation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915814" y="2990999"/>
            <a:ext cx="763532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multiple defense strategies for stronger protection.</a:t>
            </a:r>
            <a:endParaRPr lang="en-US" sz="650" dirty="0"/>
          </a:p>
        </p:txBody>
      </p:sp>
      <p:sp>
        <p:nvSpPr>
          <p:cNvPr id="20" name="Text 15"/>
          <p:cNvSpPr/>
          <p:nvPr/>
        </p:nvSpPr>
        <p:spPr>
          <a:xfrm>
            <a:off x="915814" y="3146524"/>
            <a:ext cx="763532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132080" indent="-132080" algn="l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Bulyan</a:t>
            </a:r>
            <a:endParaRPr lang="en-US" sz="6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3423345"/>
            <a:ext cx="8151763" cy="7809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279" y="3732088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915814" y="3520083"/>
            <a:ext cx="7635329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Privacy-Preserving Approaches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915814" y="3693096"/>
            <a:ext cx="763532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 patient information while maintaining security.</a:t>
            </a:r>
            <a:endParaRPr lang="en-US" sz="650" dirty="0"/>
          </a:p>
        </p:txBody>
      </p:sp>
      <p:sp>
        <p:nvSpPr>
          <p:cNvPr id="25" name="Text 19"/>
          <p:cNvSpPr/>
          <p:nvPr/>
        </p:nvSpPr>
        <p:spPr>
          <a:xfrm>
            <a:off x="915814" y="3848621"/>
            <a:ext cx="7635329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32080" indent="-132080" algn="l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Differential Privacy</a:t>
            </a:r>
            <a:endParaRPr lang="en-US" sz="650" dirty="0"/>
          </a:p>
          <a:p>
            <a:pPr marL="132080" indent="-132080" algn="l">
              <a:lnSpc>
                <a:spcPct val="114000"/>
              </a:lnSpc>
              <a:buSzPct val="100000"/>
              <a:buChar char="•"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Aggregation</a:t>
            </a:r>
            <a:endParaRPr lang="en-US" sz="6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4265637"/>
            <a:ext cx="8151763" cy="5232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12279" y="4445496"/>
            <a:ext cx="130820" cy="16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915814" y="4362376"/>
            <a:ext cx="7635329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Adaptive Trust-Based Methods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915814" y="4535388"/>
            <a:ext cx="7635329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client reliability using historical behavior. Dynamically identify suspicious participants.</a:t>
            </a:r>
            <a:endParaRPr lang="en-US" sz="65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3ED5BF-4B69-E85F-5742-23E9BFA9FAF8}"/>
              </a:ext>
            </a:extLst>
          </p:cNvPr>
          <p:cNvSpPr/>
          <p:nvPr/>
        </p:nvSpPr>
        <p:spPr>
          <a:xfrm>
            <a:off x="7900147" y="4788917"/>
            <a:ext cx="1243853" cy="3545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7499"/>
            <a:ext cx="490017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24706"/>
            <a:ext cx="79838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25624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Security &amp; Privacy Protection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262732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Protection in Federated Healthcare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6822" y="1642616"/>
            <a:ext cx="4103191" cy="1458888"/>
          </a:xfrm>
          <a:prstGeom prst="roundRect">
            <a:avLst>
              <a:gd name="adj" fmla="val 612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0796" y="1766590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Differential Privacy (DP)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796" y="2084412"/>
            <a:ext cx="3855244" cy="682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Adds controlled noise to model updates.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attackers from extracting sensitive patient information.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privacy protection while training AI models.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1766590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Cryptographic Protocols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2084412"/>
            <a:ext cx="3924598" cy="905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Secure Aggregation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Encrypts individual client updates. Server only receives aggregated information.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Homomorphic Encryption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Enables computation on encrypted healthcare data.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241030"/>
            <a:ext cx="2634555" cy="1314971"/>
          </a:xfrm>
          <a:prstGeom prst="roundRect">
            <a:avLst>
              <a:gd name="adj" fmla="val 396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855" y="3369766"/>
            <a:ext cx="237708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</a:t>
            </a: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Increased Computational Complexity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855" y="3831878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Cryptographic operations impose significant processing overhead on participating nodes.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54648" y="3241030"/>
            <a:ext cx="2634630" cy="1314971"/>
          </a:xfrm>
          <a:prstGeom prst="roundRect">
            <a:avLst>
              <a:gd name="adj" fmla="val 396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384" y="3369766"/>
            <a:ext cx="23771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</a:t>
            </a: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Higher Communication Cost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83384" y="3638029"/>
            <a:ext cx="237715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Encrypted payloads and verification rounds increase bandwidth consumption.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13252" y="3241030"/>
            <a:ext cx="2634555" cy="1314971"/>
          </a:xfrm>
          <a:prstGeom prst="roundRect">
            <a:avLst>
              <a:gd name="adj" fmla="val 396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1988" y="3369766"/>
            <a:ext cx="23770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⚠</a:t>
            </a: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Privacy-Accuracy Trade-Off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1988" y="3638029"/>
            <a:ext cx="23770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Stronger privacy guarantees often degrade model performance and prediction reliability.</a:t>
            </a:r>
            <a:endParaRPr lang="en-US" sz="95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F33BD04-BF6E-E51E-5EBF-678A6CD7BB3D}"/>
              </a:ext>
            </a:extLst>
          </p:cNvPr>
          <p:cNvSpPr/>
          <p:nvPr/>
        </p:nvSpPr>
        <p:spPr>
          <a:xfrm>
            <a:off x="8048065" y="4861112"/>
            <a:ext cx="1001806" cy="19384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E7F3FE-93E4-71CF-2500-0148BDB62831}"/>
              </a:ext>
            </a:extLst>
          </p:cNvPr>
          <p:cNvSpPr/>
          <p:nvPr/>
        </p:nvSpPr>
        <p:spPr>
          <a:xfrm>
            <a:off x="7974106" y="4968688"/>
            <a:ext cx="1001806" cy="1358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45840"/>
            <a:ext cx="490017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83047"/>
            <a:ext cx="79838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83965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Gap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321073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 in Existing Research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700957"/>
            <a:ext cx="2634555" cy="15324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1530" y="1839218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Lack of Adaptive Defense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91530" y="2107481"/>
            <a:ext cx="230088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existing methods are designed for fixed attack patterns. They cannot effectively detect evolving Byzantine attacks.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4648" y="1700957"/>
            <a:ext cx="2634630" cy="153248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50059" y="1839218"/>
            <a:ext cx="2300957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Limited Real-World IoMT Validation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450059" y="2301329"/>
            <a:ext cx="230095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Most approaches are evaluated using simulation environments. Real healthcare deployment scenarios are rarely considered.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13252" y="1700957"/>
            <a:ext cx="2634555" cy="153248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08663" y="1839218"/>
            <a:ext cx="230088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High Computational Requirements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208663" y="2301329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aggregation methods require high processing power. Difficult to deploy on resource-constrained IoMT devices.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357414"/>
            <a:ext cx="2634555" cy="11401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1530" y="3495675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Communication Overhead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91530" y="3763938"/>
            <a:ext cx="230088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 verification increases training delay. Not suitable for real-time healthcare applications.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3357414"/>
            <a:ext cx="2634630" cy="11401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450059" y="3495675"/>
            <a:ext cx="23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Privacy and Accuracy Conflict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450059" y="3763938"/>
            <a:ext cx="230095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privacy mechanisms may reduce AI model performance, creating a fundamental tension in system design.</a:t>
            </a:r>
            <a:endParaRPr lang="en-US" sz="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A5D9AE1-CA1E-0F47-3709-988844F37041}"/>
              </a:ext>
            </a:extLst>
          </p:cNvPr>
          <p:cNvSpPr/>
          <p:nvPr/>
        </p:nvSpPr>
        <p:spPr>
          <a:xfrm>
            <a:off x="7839635" y="4834218"/>
            <a:ext cx="1257300" cy="26221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0554"/>
            <a:ext cx="467097" cy="179561"/>
          </a:xfrm>
          <a:prstGeom prst="roundRect">
            <a:avLst>
              <a:gd name="adj" fmla="val 2212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67035" y="415975"/>
            <a:ext cx="782464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605135"/>
            <a:ext cx="8151763" cy="3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Open Challenges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496119" y="1019621"/>
            <a:ext cx="815176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Unsolved Problems in Byzantine-Resilient FL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10989" y="1373312"/>
            <a:ext cx="3257848" cy="3389561"/>
          </a:xfrm>
          <a:prstGeom prst="roundRect">
            <a:avLst>
              <a:gd name="adj" fmla="val 261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29158" y="1485974"/>
            <a:ext cx="3021509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Resource-Constrained Devices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29158" y="1783333"/>
            <a:ext cx="3478709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Wearable sensors have limited: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29158" y="2069381"/>
            <a:ext cx="3021509" cy="63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Processing capability</a:t>
            </a:r>
            <a:endParaRPr lang="en-US" sz="900" dirty="0"/>
          </a:p>
          <a:p>
            <a:pPr marL="182880" indent="-18288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</a:t>
            </a:r>
            <a:endParaRPr lang="en-US" sz="900" dirty="0"/>
          </a:p>
          <a:p>
            <a:pPr marL="182880" indent="-182880" algn="l">
              <a:lnSpc>
                <a:spcPct val="130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Battery life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76898" y="1500039"/>
            <a:ext cx="265956" cy="26595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5517" y="1540669"/>
            <a:ext cx="439705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Dynamic Healthcare Networks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55517" y="1838027"/>
            <a:ext cx="439705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IoMT devices frequently join and leave the network. Existing methods often assume stable clients.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76898" y="2432745"/>
            <a:ext cx="265956" cy="26595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5517" y="2473375"/>
            <a:ext cx="439705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Intelligent Attackers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55517" y="2770733"/>
            <a:ext cx="4397053" cy="369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Attackers can change their behavior to avoid detection, rendering static defenses ineffective.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76898" y="3365450"/>
            <a:ext cx="265956" cy="26595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5517" y="3406080"/>
            <a:ext cx="439705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Scalability Issues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55517" y="3703439"/>
            <a:ext cx="439705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healthcare systems require millions of connected devices.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876898" y="4113461"/>
            <a:ext cx="265956" cy="265956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55517" y="4154091"/>
            <a:ext cx="439705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Decision Making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55517" y="4451449"/>
            <a:ext cx="4397053" cy="184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Medical applications require low latency and reliable predictions.</a:t>
            </a:r>
            <a:endParaRPr lang="en-US" sz="9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5B354A-F186-E1D3-3B44-DE87A03B624C}"/>
              </a:ext>
            </a:extLst>
          </p:cNvPr>
          <p:cNvSpPr/>
          <p:nvPr/>
        </p:nvSpPr>
        <p:spPr>
          <a:xfrm>
            <a:off x="7974106" y="4827494"/>
            <a:ext cx="1109382" cy="3160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79673"/>
            <a:ext cx="482203" cy="185514"/>
          </a:xfrm>
          <a:prstGeom prst="roundRect">
            <a:avLst>
              <a:gd name="adj" fmla="val 22116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69342" y="516285"/>
            <a:ext cx="792956" cy="112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713259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Solution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142851"/>
            <a:ext cx="8151763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Hybrid Adaptive Byzantine-Resilient Federated Learning Framework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13805"/>
            <a:ext cx="2717229" cy="48837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8158" y="2122363"/>
            <a:ext cx="24731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Lightweight Anomaly Detection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18158" y="2385194"/>
            <a:ext cx="247315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client updates before aggregation. Detect suspicious or malicious behavior efficiently.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348" y="1513805"/>
            <a:ext cx="2717229" cy="48837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35387" y="2122363"/>
            <a:ext cx="24731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Trust-Based Client Evaluation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335387" y="2385194"/>
            <a:ext cx="247315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Assign reliability scores to clients. Trusted healthcare institutions receive higher contribution weights.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0578" y="1513805"/>
            <a:ext cx="2717229" cy="48837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52617" y="2122363"/>
            <a:ext cx="24731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Adaptive Robust Aggregation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052617" y="2385194"/>
            <a:ext cx="247315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Adjust aggregation strategy according to attack behavior. Provides better defense against dynamic attacks.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119" y="3088779"/>
            <a:ext cx="2717229" cy="48837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18158" y="3697337"/>
            <a:ext cx="24731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Differential Privacy Integration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18158" y="3960168"/>
            <a:ext cx="247315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 patient confidentiality. Maintain model accuracy with controlled privacy mechanisms.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13348" y="3088779"/>
            <a:ext cx="2717229" cy="48837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335387" y="3697337"/>
            <a:ext cx="2473151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Edge-Assisted Federated Learning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3335387" y="3960168"/>
            <a:ext cx="247315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 initial processing near IoMT devices. Reduce communication latency and server workload.</a:t>
            </a:r>
            <a:endParaRPr lang="en-US" sz="9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029183-BAC9-8451-46F8-D472437673C7}"/>
              </a:ext>
            </a:extLst>
          </p:cNvPr>
          <p:cNvSpPr/>
          <p:nvPr/>
        </p:nvSpPr>
        <p:spPr>
          <a:xfrm>
            <a:off x="7940488" y="4820771"/>
            <a:ext cx="1203512" cy="3227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63463"/>
            <a:ext cx="490017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600670"/>
            <a:ext cx="79838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801588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Expected Impact of Proposed Solution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238696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Benefits for Smart Healthcare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96119" y="1618580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4855" y="1747317"/>
            <a:ext cx="372070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174" y="1849562"/>
            <a:ext cx="167432" cy="1674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4855" y="2243361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Security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4855" y="2511623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Prevents malicious updates from affecting global models. Provides stronger Byzantine attack resistance.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33987" y="1618580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62723" y="1747317"/>
            <a:ext cx="372070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043" y="1849562"/>
            <a:ext cx="167432" cy="1674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62723" y="2243361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Enhanced Privacy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62723" y="2511623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Protects sensitive patient information. Supports healthcare regulations and compliance requirements.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96119" y="3161258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4855" y="3289995"/>
            <a:ext cx="372070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7174" y="3392239"/>
            <a:ext cx="167432" cy="1674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4855" y="3786039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Better Efficiency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4855" y="4054301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Reduces communication overhead. Suitable for resource-constrained IoMT environments.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33987" y="3161258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762723" y="3289995"/>
            <a:ext cx="372070" cy="372070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65043" y="3392239"/>
            <a:ext cx="167432" cy="1674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762723" y="3786039"/>
            <a:ext cx="375642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Reliable Clinical Applications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762723" y="4054301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disease prediction, remote patient monitoring, and AI-assisted diagnosis.</a:t>
            </a:r>
            <a:endParaRPr lang="en-US" sz="95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4EB705-DB27-6FA6-D670-C3FB52DA833C}"/>
              </a:ext>
            </a:extLst>
          </p:cNvPr>
          <p:cNvSpPr/>
          <p:nvPr/>
        </p:nvSpPr>
        <p:spPr>
          <a:xfrm>
            <a:off x="7953935" y="4814047"/>
            <a:ext cx="1190065" cy="32945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22586"/>
            <a:ext cx="490017" cy="188565"/>
          </a:xfrm>
          <a:prstGeom prst="roundRect">
            <a:avLst>
              <a:gd name="adj" fmla="val 22104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70533" y="959793"/>
            <a:ext cx="79838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96119" y="1160711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Critical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96119" y="1597819"/>
            <a:ext cx="815176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Personal Evaluation of Existing Literature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06822" y="1977703"/>
            <a:ext cx="4103191" cy="1409179"/>
          </a:xfrm>
          <a:prstGeom prst="roundRect">
            <a:avLst>
              <a:gd name="adj" fmla="val 633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30796" y="2101676"/>
            <a:ext cx="385524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796" y="2419499"/>
            <a:ext cx="3855244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Provides privacy-preserving healthcare AI solutions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Improves reliability of Federated Learning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Reduces impact of malicious clients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✔</a:t>
            </a:r>
            <a:r>
              <a:rPr lang="en-US" sz="9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Enables collaborative learning among healthcare institutions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28046" y="2101676"/>
            <a:ext cx="392459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8046" y="2419499"/>
            <a:ext cx="3924598" cy="923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Many studies rely on simulated attack scenarios.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Limited testing with real IoMT healthcare environments.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Existing methods often focus on security but ignore efficiency.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❌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High computational cost prevents large-scale deployment.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526408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FCF2B5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706192"/>
            <a:ext cx="155004" cy="12397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99071" y="3681338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Missing Perspective: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Future research should focus on balancing: </a:t>
            </a:r>
            <a:r>
              <a:rPr lang="en-US" sz="9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Security + Privacy + Accuracy + Efficiency</a:t>
            </a:r>
            <a:r>
              <a:rPr lang="en-US" sz="9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 existing solution adequately addresses all four dimensions simultaneously.</a:t>
            </a:r>
            <a:endParaRPr lang="en-US" sz="9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FF5845-EE9A-B3F7-AB0F-2312A0280B40}"/>
              </a:ext>
            </a:extLst>
          </p:cNvPr>
          <p:cNvSpPr/>
          <p:nvPr/>
        </p:nvSpPr>
        <p:spPr>
          <a:xfrm>
            <a:off x="7879976" y="4773706"/>
            <a:ext cx="1210236" cy="3045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46174"/>
            <a:ext cx="398041" cy="153144"/>
          </a:xfrm>
          <a:prstGeom prst="roundRect">
            <a:avLst>
              <a:gd name="adj" fmla="val 22113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556543" y="376386"/>
            <a:ext cx="734392" cy="92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SLIDE 9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96119" y="532061"/>
            <a:ext cx="8151763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96119" y="969764"/>
            <a:ext cx="8151763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Federated Learning is a promising approach for privacy-preserving healthcare AI. However, Byzantine attacks remain a critical security challenge. Existing robust aggregation methods improve protection but still face limitations in scalability, communication efficiency, and adaptability.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96119" y="1950765"/>
            <a:ext cx="249815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Robust Aggregation</a:t>
            </a:r>
            <a:endParaRPr lang="en-US" sz="9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408" y="1354038"/>
            <a:ext cx="2853110" cy="2853110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2365" y="1888108"/>
            <a:ext cx="150763" cy="1507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49653" y="1950765"/>
            <a:ext cx="249822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Anomaly Detection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408" y="1354038"/>
            <a:ext cx="2853110" cy="285311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13536" y="2130921"/>
            <a:ext cx="150763" cy="15076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149653" y="3452887"/>
            <a:ext cx="2498229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Trust Evaluation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45408" y="1354038"/>
            <a:ext cx="2853110" cy="2853110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70723" y="3522092"/>
            <a:ext cx="150763" cy="150763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496119" y="3452887"/>
            <a:ext cx="2498154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Differential Privacy</a:t>
            </a:r>
            <a:endParaRPr lang="en-US" sz="9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45408" y="1354038"/>
            <a:ext cx="2853110" cy="2853110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679552" y="3279279"/>
            <a:ext cx="150763" cy="150763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496119" y="4299272"/>
            <a:ext cx="8151763" cy="497979"/>
          </a:xfrm>
          <a:prstGeom prst="roundRect">
            <a:avLst>
              <a:gd name="adj" fmla="val 8501"/>
            </a:avLst>
          </a:prstGeom>
          <a:solidFill>
            <a:srgbClr val="B6FCB8"/>
          </a:solidFill>
          <a:ln/>
        </p:spPr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875" y="4437013"/>
            <a:ext cx="125983" cy="100757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823615" y="4406280"/>
            <a:ext cx="7723510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</a:t>
            </a: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hybrid adaptive framework</a:t>
            </a: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combining robust aggregation, anomaly detection, trust evaluation, and Differential Privacy can enable </a:t>
            </a:r>
            <a:r>
              <a:rPr lang="en-US" sz="75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secure and reliable IoMT-based smart healthcare systems</a:t>
            </a:r>
            <a:r>
              <a:rPr lang="en-US" sz="7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258642B-D8F2-4FC9-8E78-4334FBC1705E}"/>
              </a:ext>
            </a:extLst>
          </p:cNvPr>
          <p:cNvSpPr/>
          <p:nvPr/>
        </p:nvSpPr>
        <p:spPr>
          <a:xfrm>
            <a:off x="7893424" y="4861112"/>
            <a:ext cx="1250576" cy="28238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921</Words>
  <Application>Microsoft Office PowerPoint</Application>
  <PresentationFormat>On-screen Show (16:9)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Raleway</vt:lpstr>
      <vt:lpstr>Arial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Joyashish Ghosh</cp:lastModifiedBy>
  <cp:revision>4</cp:revision>
  <dcterms:created xsi:type="dcterms:W3CDTF">2026-07-28T21:27:43Z</dcterms:created>
  <dcterms:modified xsi:type="dcterms:W3CDTF">2026-07-28T21:39:57Z</dcterms:modified>
</cp:coreProperties>
</file>